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4"/>
  </p:sldMasterIdLst>
  <p:notesMasterIdLst>
    <p:notesMasterId r:id="rId19"/>
  </p:notesMasterIdLst>
  <p:sldIdLst>
    <p:sldId id="256" r:id="rId5"/>
    <p:sldId id="277" r:id="rId6"/>
    <p:sldId id="299" r:id="rId7"/>
    <p:sldId id="296" r:id="rId8"/>
    <p:sldId id="304" r:id="rId9"/>
    <p:sldId id="295" r:id="rId10"/>
    <p:sldId id="298" r:id="rId11"/>
    <p:sldId id="297" r:id="rId12"/>
    <p:sldId id="302" r:id="rId13"/>
    <p:sldId id="300" r:id="rId14"/>
    <p:sldId id="305" r:id="rId15"/>
    <p:sldId id="306" r:id="rId16"/>
    <p:sldId id="303" r:id="rId17"/>
    <p:sldId id="291" r:id="rId18"/>
  </p:sldIdLst>
  <p:sldSz cx="10080625" cy="5670550"/>
  <p:notesSz cx="7559675" cy="10691813"/>
  <p:embeddedFontLst>
    <p:embeddedFont>
      <p:font typeface="Cambria Math" panose="02040503050406030204" pitchFamily="18" charset="0"/>
      <p:regular r:id="rId20"/>
    </p:embeddedFont>
    <p:embeddedFont>
      <p:font typeface="Helvetica Neue Light" panose="02000403000000020004" pitchFamily="2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E396"/>
    <a:srgbClr val="A7A1F4"/>
    <a:srgbClr val="D886E5"/>
    <a:srgbClr val="2A2D3B"/>
    <a:srgbClr val="FFBB46"/>
    <a:srgbClr val="0C4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02"/>
    <p:restoredTop sz="94532"/>
  </p:normalViewPr>
  <p:slideViewPr>
    <p:cSldViewPr snapToGrid="0">
      <p:cViewPr varScale="1">
        <p:scale>
          <a:sx n="257" d="100"/>
          <a:sy n="257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irik Sørbø" userId="aa173bd6-929c-4bba-9ad0-b207a528b169" providerId="ADAL" clId="{2320E76B-523F-5EAB-A91E-5A7124FD9D53}"/>
    <pc:docChg chg="undo redo custSel modSld">
      <pc:chgData name="Eirik Sørbø" userId="aa173bd6-929c-4bba-9ad0-b207a528b169" providerId="ADAL" clId="{2320E76B-523F-5EAB-A91E-5A7124FD9D53}" dt="2026-01-08T08:30:19.384" v="296" actId="20577"/>
      <pc:docMkLst>
        <pc:docMk/>
      </pc:docMkLst>
      <pc:sldChg chg="addSp delSp modSp mod">
        <pc:chgData name="Eirik Sørbø" userId="aa173bd6-929c-4bba-9ad0-b207a528b169" providerId="ADAL" clId="{2320E76B-523F-5EAB-A91E-5A7124FD9D53}" dt="2026-01-08T08:30:19.384" v="296" actId="20577"/>
        <pc:sldMkLst>
          <pc:docMk/>
          <pc:sldMk cId="0" sldId="256"/>
        </pc:sldMkLst>
        <pc:spChg chg="mod">
          <ac:chgData name="Eirik Sørbø" userId="aa173bd6-929c-4bba-9ad0-b207a528b169" providerId="ADAL" clId="{2320E76B-523F-5EAB-A91E-5A7124FD9D53}" dt="2026-01-08T08:30:19.384" v="296" actId="20577"/>
          <ac:spMkLst>
            <pc:docMk/>
            <pc:sldMk cId="0" sldId="256"/>
            <ac:spMk id="2" creationId="{BCB6B46A-FB3E-B8FA-1ED5-8F2894226D3E}"/>
          </ac:spMkLst>
        </pc:spChg>
        <pc:spChg chg="mod">
          <ac:chgData name="Eirik Sørbø" userId="aa173bd6-929c-4bba-9ad0-b207a528b169" providerId="ADAL" clId="{2320E76B-523F-5EAB-A91E-5A7124FD9D53}" dt="2026-01-08T08:30:18.845" v="291" actId="20577"/>
          <ac:spMkLst>
            <pc:docMk/>
            <pc:sldMk cId="0" sldId="256"/>
            <ac:spMk id="98" creationId="{00000000-0000-0000-0000-000000000000}"/>
          </ac:spMkLst>
        </pc:spChg>
        <pc:picChg chg="add del">
          <ac:chgData name="Eirik Sørbø" userId="aa173bd6-929c-4bba-9ad0-b207a528b169" providerId="ADAL" clId="{2320E76B-523F-5EAB-A91E-5A7124FD9D53}" dt="2026-01-08T08:30:18.250" v="288" actId="478"/>
          <ac:picMkLst>
            <pc:docMk/>
            <pc:sldMk cId="0" sldId="256"/>
            <ac:picMk id="3" creationId="{8430AE31-4256-4F7C-0C1D-9E1F467B4152}"/>
          </ac:picMkLst>
        </pc:picChg>
      </pc:sldChg>
      <pc:sldChg chg="addSp delSp modSp mod delAnim modAnim">
        <pc:chgData name="Eirik Sørbø" userId="aa173bd6-929c-4bba-9ad0-b207a528b169" providerId="ADAL" clId="{2320E76B-523F-5EAB-A91E-5A7124FD9D53}" dt="2025-12-17T08:26:49.450" v="224" actId="20577"/>
        <pc:sldMkLst>
          <pc:docMk/>
          <pc:sldMk cId="2876123481" sldId="303"/>
        </pc:sldMkLst>
        <pc:spChg chg="mod">
          <ac:chgData name="Eirik Sørbø" userId="aa173bd6-929c-4bba-9ad0-b207a528b169" providerId="ADAL" clId="{2320E76B-523F-5EAB-A91E-5A7124FD9D53}" dt="2025-12-17T08:26:49.450" v="224" actId="20577"/>
          <ac:spMkLst>
            <pc:docMk/>
            <pc:sldMk cId="2876123481" sldId="303"/>
            <ac:spMk id="2" creationId="{2CEED8E2-85B2-7785-6574-1F8BD6E7DBF1}"/>
          </ac:spMkLst>
        </pc:spChg>
        <pc:spChg chg="add mod">
          <ac:chgData name="Eirik Sørbø" userId="aa173bd6-929c-4bba-9ad0-b207a528b169" providerId="ADAL" clId="{2320E76B-523F-5EAB-A91E-5A7124FD9D53}" dt="2025-12-17T08:24:12.992" v="181" actId="14100"/>
          <ac:spMkLst>
            <pc:docMk/>
            <pc:sldMk cId="2876123481" sldId="303"/>
            <ac:spMk id="8" creationId="{FB135DCC-7529-8223-1897-7A1BAD766AB5}"/>
          </ac:spMkLst>
        </pc:spChg>
        <pc:picChg chg="mod">
          <ac:chgData name="Eirik Sørbø" userId="aa173bd6-929c-4bba-9ad0-b207a528b169" providerId="ADAL" clId="{2320E76B-523F-5EAB-A91E-5A7124FD9D53}" dt="2025-12-17T08:23:51.528" v="163" actId="1037"/>
          <ac:picMkLst>
            <pc:docMk/>
            <pc:sldMk cId="2876123481" sldId="303"/>
            <ac:picMk id="3" creationId="{2625852E-321F-B421-E34B-B7B014E82235}"/>
          </ac:picMkLst>
        </pc:picChg>
        <pc:picChg chg="add mod">
          <ac:chgData name="Eirik Sørbø" userId="aa173bd6-929c-4bba-9ad0-b207a528b169" providerId="ADAL" clId="{2320E76B-523F-5EAB-A91E-5A7124FD9D53}" dt="2025-12-17T08:23:37.093" v="153" actId="1076"/>
          <ac:picMkLst>
            <pc:docMk/>
            <pc:sldMk cId="2876123481" sldId="303"/>
            <ac:picMk id="9" creationId="{4A803748-7F5E-BEAE-75C5-5260E2B5E846}"/>
          </ac:picMkLst>
        </pc:picChg>
        <pc:picChg chg="add mod">
          <ac:chgData name="Eirik Sørbø" userId="aa173bd6-929c-4bba-9ad0-b207a528b169" providerId="ADAL" clId="{2320E76B-523F-5EAB-A91E-5A7124FD9D53}" dt="2025-12-17T08:23:39.788" v="154" actId="571"/>
          <ac:picMkLst>
            <pc:docMk/>
            <pc:sldMk cId="2876123481" sldId="303"/>
            <ac:picMk id="11" creationId="{2D05030A-6686-DE1D-9816-7E188D3F9D83}"/>
          </ac:picMkLst>
        </pc:picChg>
        <pc:picChg chg="add mod">
          <ac:chgData name="Eirik Sørbø" userId="aa173bd6-929c-4bba-9ad0-b207a528b169" providerId="ADAL" clId="{2320E76B-523F-5EAB-A91E-5A7124FD9D53}" dt="2025-12-17T08:23:42.674" v="155" actId="571"/>
          <ac:picMkLst>
            <pc:docMk/>
            <pc:sldMk cId="2876123481" sldId="303"/>
            <ac:picMk id="12" creationId="{530BD43C-89B9-31B1-0914-71FF59ECF06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bf9a7e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5900" y="801688"/>
            <a:ext cx="7127875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g37cbf9a7ea0_0_0:notes"/>
          <p:cNvSpPr txBox="1">
            <a:spLocks noGrp="1"/>
          </p:cNvSpPr>
          <p:nvPr>
            <p:ph type="body" idx="1"/>
          </p:nvPr>
        </p:nvSpPr>
        <p:spPr>
          <a:xfrm>
            <a:off x="755968" y="5078605"/>
            <a:ext cx="60474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25" rIns="0" bIns="1028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strike="noStrike">
                <a:latin typeface="Arial"/>
                <a:ea typeface="Arial"/>
                <a:cs typeface="Arial"/>
                <a:sym typeface="Arial"/>
              </a:rPr>
              <a:t>Alexander</a:t>
            </a:r>
            <a:endParaRPr sz="1200" b="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cc2e89232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cc2e89232_0_219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for, through and in are important here!</a:t>
            </a:r>
            <a:endParaRPr/>
          </a:p>
        </p:txBody>
      </p:sp>
      <p:sp>
        <p:nvSpPr>
          <p:cNvPr id="229" name="Google Shape;229;g3acc2e89232_0_219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2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71313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3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1781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4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005276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5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143910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6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602894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7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806592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8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295051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9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387493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10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157817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11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8509986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12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335942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cc2e89232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949325"/>
            <a:ext cx="8332788" cy="46878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cc2e89232_0_203:notes"/>
          <p:cNvSpPr txBox="1">
            <a:spLocks noGrp="1"/>
          </p:cNvSpPr>
          <p:nvPr>
            <p:ph type="body" idx="1"/>
          </p:nvPr>
        </p:nvSpPr>
        <p:spPr>
          <a:xfrm>
            <a:off x="833350" y="5938158"/>
            <a:ext cx="6666600" cy="56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Alexander</a:t>
            </a:r>
            <a:endParaRPr/>
          </a:p>
        </p:txBody>
      </p:sp>
      <p:sp>
        <p:nvSpPr>
          <p:cNvPr id="223" name="Google Shape;223;g3acc2e89232_0_203:notes"/>
          <p:cNvSpPr txBox="1">
            <a:spLocks noGrp="1"/>
          </p:cNvSpPr>
          <p:nvPr>
            <p:ph type="sldNum" idx="12"/>
          </p:nvPr>
        </p:nvSpPr>
        <p:spPr>
          <a:xfrm>
            <a:off x="4716761" y="11876738"/>
            <a:ext cx="36165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25" tIns="102825" rIns="102825" bIns="1028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z="1600"/>
              <a:t>13</a:t>
            </a:fld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0085443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7df572661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7df5726618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subTitle" idx="1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3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2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3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4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2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4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5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6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_AND_BODY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693043" y="301904"/>
            <a:ext cx="8694539" cy="1096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693043" y="1509521"/>
            <a:ext cx="8694539" cy="3597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4pPr>
            <a:lvl5pPr marL="2286000" lvl="4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5pPr>
            <a:lvl6pPr marL="2743200" lvl="5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6pPr>
            <a:lvl7pPr marL="3200400" lvl="6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7pPr>
            <a:lvl8pPr marL="3657600" lvl="7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8pPr>
            <a:lvl9pPr marL="4114800" lvl="8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2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9235396" y="5295401"/>
            <a:ext cx="152186" cy="22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  <a:defRPr sz="10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xfrm>
            <a:off x="343636" y="820871"/>
            <a:ext cx="9393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xfrm>
            <a:off x="343628" y="3124535"/>
            <a:ext cx="93933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tel – øverst">
  <p:cSld name="TITLE_AND_BODY_2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4031" y="227084"/>
            <a:ext cx="90726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92375" rIns="92375" bIns="923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9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7224448" y="5255760"/>
            <a:ext cx="23520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75" tIns="46200" rIns="92375" bIns="46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1813988" y="147670"/>
            <a:ext cx="6452400" cy="12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1813988" y="1506240"/>
            <a:ext cx="6452400" cy="3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4934649" y="5382428"/>
            <a:ext cx="2040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5" tIns="29525" rIns="29525" bIns="295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 1">
  <p:cSld name="Title &amp; Bullets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1813987" y="147670"/>
            <a:ext cx="6452400" cy="12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Helvetica Neue Light"/>
              <a:buNone/>
              <a:defRPr sz="46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>
            <a:off x="1813987" y="1506240"/>
            <a:ext cx="6452400" cy="3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75" tIns="37775" rIns="37775" bIns="37775" anchor="ctr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33655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Helvetica Neue Light"/>
              <a:buChar char="•"/>
              <a:defRPr sz="22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4934649" y="5382428"/>
            <a:ext cx="2040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5" tIns="29525" rIns="29525" bIns="295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4934649" y="5382428"/>
            <a:ext cx="2040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5" tIns="29525" rIns="29525" bIns="295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Helvetica Neue Light"/>
              <a:buNone/>
              <a:defRPr sz="1000" b="0" i="0" u="none" strike="noStrike" cap="none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343628" y="4664078"/>
            <a:ext cx="6613200" cy="66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_1">
  <p:cSld name="TITLE_AND_BODY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body" idx="1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1"/>
          <p:cNvSpPr txBox="1">
            <a:spLocks noGrp="1"/>
          </p:cNvSpPr>
          <p:nvPr>
            <p:ph type="sldNum" idx="12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">
  <p:cSld name="TITLE_AND_BODY_3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>
            <a:spLocks noGrp="1"/>
          </p:cNvSpPr>
          <p:nvPr>
            <p:ph type="title"/>
          </p:nvPr>
        </p:nvSpPr>
        <p:spPr>
          <a:xfrm>
            <a:off x="343628" y="490626"/>
            <a:ext cx="9393300" cy="63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43628" y="1270568"/>
            <a:ext cx="9393300" cy="376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2"/>
          <p:cNvSpPr txBox="1">
            <a:spLocks noGrp="1"/>
          </p:cNvSpPr>
          <p:nvPr>
            <p:ph type="sldNum" idx="12"/>
          </p:nvPr>
        </p:nvSpPr>
        <p:spPr>
          <a:xfrm>
            <a:off x="9340296" y="5141053"/>
            <a:ext cx="604800" cy="43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>
  <p:cSld name="TITLE_AND_BODY_4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7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3"/>
          <p:cNvSpPr txBox="1">
            <a:spLocks noGrp="1"/>
          </p:cNvSpPr>
          <p:nvPr>
            <p:ph type="subTitle" idx="1"/>
          </p:nvPr>
        </p:nvSpPr>
        <p:spPr>
          <a:xfrm>
            <a:off x="504000" y="1326600"/>
            <a:ext cx="9071700" cy="3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/>
          <p:nvPr/>
        </p:nvSpPr>
        <p:spPr>
          <a:xfrm>
            <a:off x="386862" y="3837435"/>
            <a:ext cx="3443066" cy="1596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Centre for AI and Creativity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 dirty="0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MishMash</a:t>
            </a:r>
            <a:endParaRPr lang="nb-NO" sz="5000" b="1" i="0" u="none" strike="noStrike" cap="none" dirty="0">
              <a:solidFill>
                <a:srgbClr val="36364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Senter for KI </a:t>
            </a:r>
            <a:r>
              <a:rPr lang="en-US" sz="2000" dirty="0" err="1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og</a:t>
            </a:r>
            <a:r>
              <a:rPr lang="en-US" sz="2000" dirty="0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000" dirty="0" err="1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kreativitet</a:t>
            </a:r>
            <a:endParaRPr lang="en-US" sz="2000" dirty="0">
              <a:solidFill>
                <a:srgbClr val="A7A1F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98;p24">
            <a:extLst>
              <a:ext uri="{FF2B5EF4-FFF2-40B4-BE49-F238E27FC236}">
                <a16:creationId xmlns:a16="http://schemas.microsoft.com/office/drawing/2014/main" id="{BCB6B46A-FB3E-B8FA-1ED5-8F2894226D3E}"/>
              </a:ext>
            </a:extLst>
          </p:cNvPr>
          <p:cNvSpPr/>
          <p:nvPr/>
        </p:nvSpPr>
        <p:spPr>
          <a:xfrm>
            <a:off x="3437158" y="821673"/>
            <a:ext cx="5615400" cy="24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ctr" anchorCtr="0">
            <a:noAutofit/>
          </a:bodyPr>
          <a:lstStyle/>
          <a:p>
            <a:pPr algn="ctr"/>
            <a:r>
              <a:rPr lang="en-US" sz="5000" b="1" dirty="0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WP4</a:t>
            </a:r>
          </a:p>
          <a:p>
            <a:pPr algn="ctr"/>
            <a:r>
              <a:rPr lang="nb-NO" sz="4000" b="1" dirty="0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Creative </a:t>
            </a:r>
            <a:r>
              <a:rPr lang="nb-NO" sz="4000" b="1" dirty="0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use</a:t>
            </a:r>
            <a:r>
              <a:rPr lang="nb-NO" sz="4000" b="1" dirty="0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nb-NO" sz="4000" b="1" dirty="0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of</a:t>
            </a:r>
            <a:r>
              <a:rPr lang="nb-NO" sz="4000" b="1" dirty="0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 AI </a:t>
            </a:r>
          </a:p>
          <a:p>
            <a:pPr algn="ctr"/>
            <a:r>
              <a:rPr lang="nb-NO" sz="4000" b="1" dirty="0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nb-NO" sz="4000" b="1" dirty="0" err="1">
                <a:solidFill>
                  <a:srgbClr val="363644"/>
                </a:solidFill>
                <a:latin typeface="Roboto"/>
                <a:ea typeface="Roboto"/>
                <a:cs typeface="Roboto"/>
                <a:sym typeface="Roboto"/>
              </a:rPr>
              <a:t>Education</a:t>
            </a:r>
            <a:endParaRPr lang="nb-NO" sz="4000" b="1" dirty="0">
              <a:solidFill>
                <a:srgbClr val="363644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/>
            <a:endParaRPr sz="3500" i="0" u="none" strike="noStrike" cap="none" dirty="0">
              <a:solidFill>
                <a:srgbClr val="3636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" name="Rett linje 3">
            <a:extLst>
              <a:ext uri="{FF2B5EF4-FFF2-40B4-BE49-F238E27FC236}">
                <a16:creationId xmlns:a16="http://schemas.microsoft.com/office/drawing/2014/main" id="{7E4E676C-737C-10FD-EE25-D5D56E1DE8A1}"/>
              </a:ext>
            </a:extLst>
          </p:cNvPr>
          <p:cNvCxnSpPr>
            <a:cxnSpLocks/>
          </p:cNvCxnSpPr>
          <p:nvPr/>
        </p:nvCxnSpPr>
        <p:spPr>
          <a:xfrm>
            <a:off x="659423" y="3543300"/>
            <a:ext cx="8150469" cy="0"/>
          </a:xfrm>
          <a:prstGeom prst="line">
            <a:avLst/>
          </a:prstGeom>
          <a:ln>
            <a:solidFill>
              <a:srgbClr val="A7A1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372;p51">
            <a:extLst>
              <a:ext uri="{FF2B5EF4-FFF2-40B4-BE49-F238E27FC236}">
                <a16:creationId xmlns:a16="http://schemas.microsoft.com/office/drawing/2014/main" id="{8430AE31-4256-4F7C-0C1D-9E1F467B41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23" y="1297526"/>
            <a:ext cx="1654799" cy="153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5"/>
          <p:cNvSpPr txBox="1"/>
          <p:nvPr/>
        </p:nvSpPr>
        <p:spPr>
          <a:xfrm>
            <a:off x="313100" y="2614055"/>
            <a:ext cx="30714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800" tIns="100800" rIns="100800" bIns="1008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oboto"/>
                <a:ea typeface="Roboto"/>
                <a:cs typeface="Roboto"/>
                <a:sym typeface="Roboto"/>
              </a:rPr>
              <a:t>MishMash will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45"/>
          <p:cNvSpPr txBox="1"/>
          <p:nvPr/>
        </p:nvSpPr>
        <p:spPr>
          <a:xfrm>
            <a:off x="5036250" y="2315705"/>
            <a:ext cx="1627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497D"/>
                </a:solidFill>
                <a:latin typeface="Roboto"/>
                <a:ea typeface="Roboto"/>
                <a:cs typeface="Roboto"/>
                <a:sym typeface="Roboto"/>
              </a:rPr>
              <a:t>for </a:t>
            </a:r>
            <a:endParaRPr sz="2000">
              <a:solidFill>
                <a:srgbClr val="1F497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497D"/>
                </a:solidFill>
                <a:latin typeface="Roboto"/>
                <a:ea typeface="Roboto"/>
                <a:cs typeface="Roboto"/>
                <a:sym typeface="Roboto"/>
              </a:rPr>
              <a:t>through </a:t>
            </a:r>
            <a:endParaRPr sz="2000">
              <a:solidFill>
                <a:srgbClr val="1F497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497D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endParaRPr>
              <a:solidFill>
                <a:srgbClr val="1F497D"/>
              </a:solidFill>
            </a:endParaRPr>
          </a:p>
        </p:txBody>
      </p:sp>
      <p:sp>
        <p:nvSpPr>
          <p:cNvPr id="233" name="Google Shape;233;p45"/>
          <p:cNvSpPr txBox="1"/>
          <p:nvPr/>
        </p:nvSpPr>
        <p:spPr>
          <a:xfrm>
            <a:off x="6428925" y="2623505"/>
            <a:ext cx="2449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creative practices.</a:t>
            </a:r>
            <a:endParaRPr/>
          </a:p>
        </p:txBody>
      </p:sp>
      <p:sp>
        <p:nvSpPr>
          <p:cNvPr id="234" name="Google Shape;234;p45"/>
          <p:cNvSpPr txBox="1"/>
          <p:nvPr/>
        </p:nvSpPr>
        <p:spPr>
          <a:xfrm>
            <a:off x="4384275" y="2623505"/>
            <a:ext cx="846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 AI </a:t>
            </a:r>
            <a:endParaRPr/>
          </a:p>
        </p:txBody>
      </p:sp>
      <p:sp>
        <p:nvSpPr>
          <p:cNvPr id="235" name="Google Shape;235;p45"/>
          <p:cNvSpPr txBox="1"/>
          <p:nvPr/>
        </p:nvSpPr>
        <p:spPr>
          <a:xfrm>
            <a:off x="3344019" y="2315705"/>
            <a:ext cx="1125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786E4"/>
                </a:solidFill>
                <a:latin typeface="Roboto"/>
                <a:ea typeface="Roboto"/>
                <a:cs typeface="Roboto"/>
                <a:sym typeface="Roboto"/>
              </a:rPr>
              <a:t>create</a:t>
            </a:r>
            <a:endParaRPr sz="2000">
              <a:solidFill>
                <a:srgbClr val="D786E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786E4"/>
                </a:solidFill>
                <a:latin typeface="Roboto"/>
                <a:ea typeface="Roboto"/>
                <a:cs typeface="Roboto"/>
                <a:sym typeface="Roboto"/>
              </a:rPr>
              <a:t>explore </a:t>
            </a:r>
            <a:endParaRPr sz="2000">
              <a:solidFill>
                <a:srgbClr val="D786E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D786E4"/>
                </a:solidFill>
                <a:latin typeface="Roboto"/>
                <a:ea typeface="Roboto"/>
                <a:cs typeface="Roboto"/>
                <a:sym typeface="Roboto"/>
              </a:rPr>
              <a:t>reflect </a:t>
            </a:r>
            <a:endParaRPr>
              <a:solidFill>
                <a:srgbClr val="D786E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852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247;p47">
            <a:extLst>
              <a:ext uri="{FF2B5EF4-FFF2-40B4-BE49-F238E27FC236}">
                <a16:creationId xmlns:a16="http://schemas.microsoft.com/office/drawing/2014/main" id="{0E6D077B-D3FD-ADAC-C251-9D085DF248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795" y="1007065"/>
            <a:ext cx="4458064" cy="38392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009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Sylinder 5">
            <a:extLst>
              <a:ext uri="{FF2B5EF4-FFF2-40B4-BE49-F238E27FC236}">
                <a16:creationId xmlns:a16="http://schemas.microsoft.com/office/drawing/2014/main" id="{42CEE455-51BF-432F-BEA6-12E374203C02}"/>
              </a:ext>
            </a:extLst>
          </p:cNvPr>
          <p:cNvSpPr txBox="1"/>
          <p:nvPr/>
        </p:nvSpPr>
        <p:spPr>
          <a:xfrm>
            <a:off x="1733543" y="1135328"/>
            <a:ext cx="244266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b="1" dirty="0">
                <a:solidFill>
                  <a:srgbClr val="A7A1F4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70 researchers  </a:t>
            </a:r>
          </a:p>
        </p:txBody>
      </p:sp>
      <p:pic>
        <p:nvPicPr>
          <p:cNvPr id="12" name="Bilde 11" descr="Et bilde som inneholder mønster, hvit, design&#10;&#10;KI-generert innhold kan være feil.">
            <a:extLst>
              <a:ext uri="{FF2B5EF4-FFF2-40B4-BE49-F238E27FC236}">
                <a16:creationId xmlns:a16="http://schemas.microsoft.com/office/drawing/2014/main" id="{985577F9-BF37-725D-6110-4658907B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23" t="22831" r="9684" b="26403"/>
          <a:stretch>
            <a:fillRect/>
          </a:stretch>
        </p:blipFill>
        <p:spPr>
          <a:xfrm>
            <a:off x="537030" y="1742069"/>
            <a:ext cx="4632487" cy="2878668"/>
          </a:xfrm>
          <a:prstGeom prst="rect">
            <a:avLst/>
          </a:prstGeom>
        </p:spPr>
      </p:pic>
      <p:pic>
        <p:nvPicPr>
          <p:cNvPr id="13" name="Bilde 12" descr="Et bilde som inneholder mønster, hvit, design&#10;&#10;KI-generert innhold kan være feil.">
            <a:extLst>
              <a:ext uri="{FF2B5EF4-FFF2-40B4-BE49-F238E27FC236}">
                <a16:creationId xmlns:a16="http://schemas.microsoft.com/office/drawing/2014/main" id="{341D9CDE-1302-DC51-DF8C-77A93DF19B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49" t="22831" r="29680" b="70361"/>
          <a:stretch>
            <a:fillRect/>
          </a:stretch>
        </p:blipFill>
        <p:spPr>
          <a:xfrm>
            <a:off x="5677057" y="1612382"/>
            <a:ext cx="3510801" cy="583362"/>
          </a:xfrm>
          <a:prstGeom prst="rect">
            <a:avLst/>
          </a:prstGeom>
        </p:spPr>
      </p:pic>
      <p:sp>
        <p:nvSpPr>
          <p:cNvPr id="14" name="TekstSylinder 13">
            <a:extLst>
              <a:ext uri="{FF2B5EF4-FFF2-40B4-BE49-F238E27FC236}">
                <a16:creationId xmlns:a16="http://schemas.microsoft.com/office/drawing/2014/main" id="{70B56259-5CD4-1C6C-2481-6A5219226981}"/>
              </a:ext>
            </a:extLst>
          </p:cNvPr>
          <p:cNvSpPr txBox="1"/>
          <p:nvPr/>
        </p:nvSpPr>
        <p:spPr>
          <a:xfrm>
            <a:off x="6170292" y="1135328"/>
            <a:ext cx="278107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b="1" dirty="0">
                <a:solidFill>
                  <a:srgbClr val="A7A1F4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 PhDs/Post-docs</a:t>
            </a:r>
          </a:p>
        </p:txBody>
      </p:sp>
      <p:pic>
        <p:nvPicPr>
          <p:cNvPr id="15" name="Bilde 14" descr="Et bilde som inneholder mønster, hvit, design&#10;&#10;KI-generert innhold kan være feil.">
            <a:extLst>
              <a:ext uri="{FF2B5EF4-FFF2-40B4-BE49-F238E27FC236}">
                <a16:creationId xmlns:a16="http://schemas.microsoft.com/office/drawing/2014/main" id="{5FC67CD0-0340-1BF7-6405-A6A721D359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49" t="22831" r="29680" b="70361"/>
          <a:stretch>
            <a:fillRect/>
          </a:stretch>
        </p:blipFill>
        <p:spPr>
          <a:xfrm>
            <a:off x="5677056" y="3312613"/>
            <a:ext cx="3510801" cy="583362"/>
          </a:xfrm>
          <a:prstGeom prst="rect">
            <a:avLst/>
          </a:prstGeom>
        </p:spPr>
      </p:pic>
      <p:sp>
        <p:nvSpPr>
          <p:cNvPr id="16" name="TekstSylinder 15">
            <a:extLst>
              <a:ext uri="{FF2B5EF4-FFF2-40B4-BE49-F238E27FC236}">
                <a16:creationId xmlns:a16="http://schemas.microsoft.com/office/drawing/2014/main" id="{CB5F321A-0E83-AAAE-44A8-A4921BF5B5F3}"/>
              </a:ext>
            </a:extLst>
          </p:cNvPr>
          <p:cNvSpPr txBox="1"/>
          <p:nvPr/>
        </p:nvSpPr>
        <p:spPr>
          <a:xfrm>
            <a:off x="5677057" y="2835559"/>
            <a:ext cx="390989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500" b="1" dirty="0">
                <a:solidFill>
                  <a:srgbClr val="A7A1F4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Non-academic partners</a:t>
            </a:r>
          </a:p>
        </p:txBody>
      </p:sp>
      <p:pic>
        <p:nvPicPr>
          <p:cNvPr id="17" name="Bilde 16" descr="Et bilde som inneholder mønster, hvit, design&#10;&#10;KI-generert innhold kan være feil.">
            <a:extLst>
              <a:ext uri="{FF2B5EF4-FFF2-40B4-BE49-F238E27FC236}">
                <a16:creationId xmlns:a16="http://schemas.microsoft.com/office/drawing/2014/main" id="{C1EFB808-ACA1-9A85-5C46-27C0007776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349" t="22831" r="35471" b="70361"/>
          <a:stretch>
            <a:fillRect/>
          </a:stretch>
        </p:blipFill>
        <p:spPr>
          <a:xfrm>
            <a:off x="5677056" y="3933501"/>
            <a:ext cx="3014595" cy="583362"/>
          </a:xfrm>
          <a:prstGeom prst="rect">
            <a:avLst/>
          </a:prstGeom>
        </p:spPr>
      </p:pic>
      <p:sp>
        <p:nvSpPr>
          <p:cNvPr id="19" name="TekstSylinder 18">
            <a:extLst>
              <a:ext uri="{FF2B5EF4-FFF2-40B4-BE49-F238E27FC236}">
                <a16:creationId xmlns:a16="http://schemas.microsoft.com/office/drawing/2014/main" id="{B72E390B-45C0-4FD4-93AF-53E077024122}"/>
              </a:ext>
            </a:extLst>
          </p:cNvPr>
          <p:cNvSpPr txBox="1"/>
          <p:nvPr/>
        </p:nvSpPr>
        <p:spPr>
          <a:xfrm>
            <a:off x="8691651" y="3794295"/>
            <a:ext cx="5418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5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65387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2CEED8E2-85B2-7785-6574-1F8BD6E7DBF1}"/>
              </a:ext>
            </a:extLst>
          </p:cNvPr>
          <p:cNvSpPr txBox="1"/>
          <p:nvPr/>
        </p:nvSpPr>
        <p:spPr>
          <a:xfrm>
            <a:off x="2232560" y="2088360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nb-NO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Non-</a:t>
            </a:r>
            <a:r>
              <a:rPr lang="nb-NO" sz="22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academic</a:t>
            </a:r>
            <a:r>
              <a:rPr lang="nb-NO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partners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BE456137-D2C5-3326-4746-98555BD7F09E}"/>
              </a:ext>
            </a:extLst>
          </p:cNvPr>
          <p:cNvSpPr txBox="1"/>
          <p:nvPr/>
        </p:nvSpPr>
        <p:spPr>
          <a:xfrm>
            <a:off x="2232560" y="2754405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Communication and working platform</a:t>
            </a:r>
            <a:endParaRPr lang="nb-NO" sz="22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Grafikk 5" descr="Spørsmålstegn for Merket med heldekkende fyll">
            <a:extLst>
              <a:ext uri="{FF2B5EF4-FFF2-40B4-BE49-F238E27FC236}">
                <a16:creationId xmlns:a16="http://schemas.microsoft.com/office/drawing/2014/main" id="{4839CF44-7FAE-6C6C-51DB-239C276A3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1968" y="1990779"/>
            <a:ext cx="607229" cy="607229"/>
          </a:xfrm>
          <a:prstGeom prst="rect">
            <a:avLst/>
          </a:prstGeom>
        </p:spPr>
      </p:pic>
      <p:pic>
        <p:nvPicPr>
          <p:cNvPr id="11" name="Grafikk 10" descr="Spørsmålstegn for Merket med heldekkende fyll">
            <a:extLst>
              <a:ext uri="{FF2B5EF4-FFF2-40B4-BE49-F238E27FC236}">
                <a16:creationId xmlns:a16="http://schemas.microsoft.com/office/drawing/2014/main" id="{A408C820-A43E-E606-1C69-08C238F80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1968" y="2668113"/>
            <a:ext cx="607229" cy="607229"/>
          </a:xfrm>
          <a:prstGeom prst="rect">
            <a:avLst/>
          </a:prstGeom>
        </p:spPr>
      </p:pic>
      <p:sp>
        <p:nvSpPr>
          <p:cNvPr id="3" name="TekstSylinder 2">
            <a:extLst>
              <a:ext uri="{FF2B5EF4-FFF2-40B4-BE49-F238E27FC236}">
                <a16:creationId xmlns:a16="http://schemas.microsoft.com/office/drawing/2014/main" id="{FAC2691E-2C96-FEC5-D2F4-FA6E96AE30BF}"/>
              </a:ext>
            </a:extLst>
          </p:cNvPr>
          <p:cNvSpPr txBox="1"/>
          <p:nvPr/>
        </p:nvSpPr>
        <p:spPr>
          <a:xfrm>
            <a:off x="2237503" y="3426613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Economic model and WP4 economic resources</a:t>
            </a:r>
            <a:endParaRPr lang="nb-NO" sz="22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4" name="Grafikk 3" descr="Spørsmålstegn for Merket med heldekkende fyll">
            <a:extLst>
              <a:ext uri="{FF2B5EF4-FFF2-40B4-BE49-F238E27FC236}">
                <a16:creationId xmlns:a16="http://schemas.microsoft.com/office/drawing/2014/main" id="{C982DCDA-2E36-D78D-625E-ADA4BA9BD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6911" y="3340321"/>
            <a:ext cx="607229" cy="60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075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kstSylinder 9">
            <a:extLst>
              <a:ext uri="{FF2B5EF4-FFF2-40B4-BE49-F238E27FC236}">
                <a16:creationId xmlns:a16="http://schemas.microsoft.com/office/drawing/2014/main" id="{0AD19969-66E5-F362-1BB6-0F6E516AB5BE}"/>
              </a:ext>
            </a:extLst>
          </p:cNvPr>
          <p:cNvSpPr txBox="1"/>
          <p:nvPr/>
        </p:nvSpPr>
        <p:spPr>
          <a:xfrm>
            <a:off x="1171416" y="1953032"/>
            <a:ext cx="414074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can Creative AI be integrated into education to enhance learning and foster AI literacy while considering diversity, justice, inclusion and well</a:t>
            </a:r>
            <a:r>
              <a:rPr lang="en-GB" sz="20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‐</a:t>
            </a:r>
            <a:r>
              <a:rPr lang="en-GB" sz="20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being?</a:t>
            </a:r>
            <a:endParaRPr lang="nb-NO" sz="20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Google Shape;240;p46">
            <a:extLst>
              <a:ext uri="{FF2B5EF4-FFF2-40B4-BE49-F238E27FC236}">
                <a16:creationId xmlns:a16="http://schemas.microsoft.com/office/drawing/2014/main" id="{2D5D210D-D2B1-A7D5-9AD3-74D20B8B4E7B}"/>
              </a:ext>
            </a:extLst>
          </p:cNvPr>
          <p:cNvSpPr txBox="1"/>
          <p:nvPr/>
        </p:nvSpPr>
        <p:spPr>
          <a:xfrm>
            <a:off x="4537636" y="367440"/>
            <a:ext cx="6071100" cy="48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0" dirty="0">
                <a:solidFill>
                  <a:srgbClr val="A7A1F4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sz="30000" dirty="0">
              <a:solidFill>
                <a:srgbClr val="D786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40358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2CEED8E2-85B2-7785-6574-1F8BD6E7DBF1}"/>
              </a:ext>
            </a:extLst>
          </p:cNvPr>
          <p:cNvSpPr txBox="1"/>
          <p:nvPr/>
        </p:nvSpPr>
        <p:spPr>
          <a:xfrm>
            <a:off x="2645665" y="1666222"/>
            <a:ext cx="61831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Enhance learning opportunities </a:t>
            </a:r>
          </a:p>
          <a:p>
            <a:pPr>
              <a:buNone/>
            </a:pPr>
            <a:r>
              <a:rPr lang="en-GB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(in formal, informal and non-formal settings)</a:t>
            </a:r>
            <a:endParaRPr lang="nb-NO" sz="22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C78A3995-5758-F7B9-02E8-6CC54E01CEA5}"/>
              </a:ext>
            </a:extLst>
          </p:cNvPr>
          <p:cNvSpPr txBox="1"/>
          <p:nvPr/>
        </p:nvSpPr>
        <p:spPr>
          <a:xfrm>
            <a:off x="2645665" y="2645589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Foster creativity</a:t>
            </a:r>
            <a:endParaRPr lang="nb-NO" sz="22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TekstSylinder 3">
            <a:extLst>
              <a:ext uri="{FF2B5EF4-FFF2-40B4-BE49-F238E27FC236}">
                <a16:creationId xmlns:a16="http://schemas.microsoft.com/office/drawing/2014/main" id="{F2646171-F986-2BDE-8952-AD8800DBD8CA}"/>
              </a:ext>
            </a:extLst>
          </p:cNvPr>
          <p:cNvSpPr txBox="1"/>
          <p:nvPr/>
        </p:nvSpPr>
        <p:spPr>
          <a:xfrm>
            <a:off x="2645665" y="3472066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Foster critical AI literacy</a:t>
            </a:r>
            <a:endParaRPr lang="nb-NO" sz="22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Grafikk 5" descr="Puslespillbiter kontur">
            <a:extLst>
              <a:ext uri="{FF2B5EF4-FFF2-40B4-BE49-F238E27FC236}">
                <a16:creationId xmlns:a16="http://schemas.microsoft.com/office/drawing/2014/main" id="{CD6759E0-1193-E797-6A93-0A10FE382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8048" y="3354474"/>
            <a:ext cx="565539" cy="565539"/>
          </a:xfrm>
          <a:prstGeom prst="rect">
            <a:avLst/>
          </a:prstGeom>
        </p:spPr>
      </p:pic>
      <p:pic>
        <p:nvPicPr>
          <p:cNvPr id="11" name="Grafikk 10" descr="Høyre hjernehalvdel kontur">
            <a:extLst>
              <a:ext uri="{FF2B5EF4-FFF2-40B4-BE49-F238E27FC236}">
                <a16:creationId xmlns:a16="http://schemas.microsoft.com/office/drawing/2014/main" id="{342BFE0A-5F1C-6CED-B00D-5860E8738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6366" y="1666222"/>
            <a:ext cx="666679" cy="666679"/>
          </a:xfrm>
          <a:prstGeom prst="rect">
            <a:avLst/>
          </a:prstGeom>
        </p:spPr>
      </p:pic>
      <p:pic>
        <p:nvPicPr>
          <p:cNvPr id="13" name="Grafikk 12" descr="Gruppe idédugnad kontur">
            <a:extLst>
              <a:ext uri="{FF2B5EF4-FFF2-40B4-BE49-F238E27FC236}">
                <a16:creationId xmlns:a16="http://schemas.microsoft.com/office/drawing/2014/main" id="{D5A029AE-ED4A-6BE3-8938-F782D7563D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89887" y="2554651"/>
            <a:ext cx="513466" cy="51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4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kstSylinder 14">
            <a:extLst>
              <a:ext uri="{FF2B5EF4-FFF2-40B4-BE49-F238E27FC236}">
                <a16:creationId xmlns:a16="http://schemas.microsoft.com/office/drawing/2014/main" id="{CE68AC28-9907-3D4B-BA41-F17184B5B1F6}"/>
              </a:ext>
            </a:extLst>
          </p:cNvPr>
          <p:cNvSpPr txBox="1"/>
          <p:nvPr/>
        </p:nvSpPr>
        <p:spPr>
          <a:xfrm>
            <a:off x="530022" y="616202"/>
            <a:ext cx="794455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900" b="1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RQ4.1: </a:t>
            </a:r>
            <a:r>
              <a:rPr lang="en-GB" sz="19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can Creative AI be effectively integrated to enhance teaching and learning and foster human creativity?</a:t>
            </a:r>
            <a:endParaRPr lang="nb-NO" sz="19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21A9F248-096E-62A2-70C9-85A3F6D54D9D}"/>
              </a:ext>
            </a:extLst>
          </p:cNvPr>
          <p:cNvSpPr txBox="1"/>
          <p:nvPr/>
        </p:nvSpPr>
        <p:spPr>
          <a:xfrm>
            <a:off x="528233" y="1623626"/>
            <a:ext cx="9089776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900" b="1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RQ4.2: </a:t>
            </a:r>
            <a:r>
              <a:rPr lang="en-GB" sz="19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can the artistic use of AI within creative and fine arts education challenge and develop hierarchies of knowledge production in education and research?</a:t>
            </a:r>
            <a:endParaRPr lang="nb-NO" sz="19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nb-NO" sz="1900" dirty="0"/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8A427E10-D9E8-5BB2-2469-5891CFB9586C}"/>
              </a:ext>
            </a:extLst>
          </p:cNvPr>
          <p:cNvSpPr txBox="1"/>
          <p:nvPr/>
        </p:nvSpPr>
        <p:spPr>
          <a:xfrm>
            <a:off x="528233" y="3951005"/>
            <a:ext cx="889564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900" b="1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RQ4.4: </a:t>
            </a:r>
            <a:r>
              <a:rPr lang="en-GB" sz="19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How can the relationship between AI in formalised education and the application of AI in broader artistic practice be mapped and analysed to advance the use of Creative AI?</a:t>
            </a:r>
            <a:endParaRPr lang="nb-NO" sz="19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nb-NO" sz="1900" dirty="0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877D04C0-B1E3-A8AA-6337-B904CB2B0865}"/>
              </a:ext>
            </a:extLst>
          </p:cNvPr>
          <p:cNvSpPr txBox="1"/>
          <p:nvPr/>
        </p:nvSpPr>
        <p:spPr>
          <a:xfrm>
            <a:off x="528234" y="2689121"/>
            <a:ext cx="889564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900" b="1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RQ4.3: </a:t>
            </a:r>
            <a:r>
              <a:rPr lang="en-GB" sz="19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measures can ensure that ethical considerations such as diversity, justice, fairness, inclusion, privacy, trust, and accessibility are central to implementing AI in creative education?</a:t>
            </a:r>
            <a:endParaRPr lang="nb-NO" sz="19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nb-NO" sz="1900" dirty="0"/>
          </a:p>
        </p:txBody>
      </p:sp>
    </p:spTree>
    <p:extLst>
      <p:ext uri="{BB962C8B-B14F-4D97-AF65-F5344CB8AC3E}">
        <p14:creationId xmlns:p14="http://schemas.microsoft.com/office/powerpoint/2010/main" val="30056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kstSylinder 17">
            <a:extLst>
              <a:ext uri="{FF2B5EF4-FFF2-40B4-BE49-F238E27FC236}">
                <a16:creationId xmlns:a16="http://schemas.microsoft.com/office/drawing/2014/main" id="{877D04C0-B1E3-A8AA-6337-B904CB2B0865}"/>
              </a:ext>
            </a:extLst>
          </p:cNvPr>
          <p:cNvSpPr txBox="1"/>
          <p:nvPr/>
        </p:nvSpPr>
        <p:spPr>
          <a:xfrm>
            <a:off x="1094199" y="2341394"/>
            <a:ext cx="8382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REFLECT</a:t>
            </a:r>
            <a:r>
              <a:rPr lang="en-GB" sz="2000" dirty="0"/>
              <a:t> on the implications of using AI in education to suggest frameworks and policy recommendations for using AI in education.</a:t>
            </a:r>
            <a:endParaRPr lang="nb-NO" sz="2000" dirty="0"/>
          </a:p>
        </p:txBody>
      </p:sp>
      <p:sp>
        <p:nvSpPr>
          <p:cNvPr id="2" name="TekstSylinder 1">
            <a:extLst>
              <a:ext uri="{FF2B5EF4-FFF2-40B4-BE49-F238E27FC236}">
                <a16:creationId xmlns:a16="http://schemas.microsoft.com/office/drawing/2014/main" id="{C148F2BA-B32D-B720-CE6C-6FF8888043AD}"/>
              </a:ext>
            </a:extLst>
          </p:cNvPr>
          <p:cNvSpPr txBox="1"/>
          <p:nvPr/>
        </p:nvSpPr>
        <p:spPr>
          <a:xfrm>
            <a:off x="1094199" y="1033059"/>
            <a:ext cx="83821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EXPLORE</a:t>
            </a:r>
            <a:r>
              <a:rPr lang="en-GB" sz="2000" dirty="0"/>
              <a:t> the artistic and pedagogical use of AI in formal, non‐formal and informal learning contexts, including developing a shared understanding of AI literacy for creative and fine arts education.</a:t>
            </a:r>
            <a:endParaRPr lang="nb-NO" sz="2000" dirty="0"/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E1BC0B19-7D3C-02B1-8CCF-13EB5AF133B0}"/>
              </a:ext>
            </a:extLst>
          </p:cNvPr>
          <p:cNvSpPr txBox="1"/>
          <p:nvPr/>
        </p:nvSpPr>
        <p:spPr>
          <a:xfrm>
            <a:off x="1094199" y="3341952"/>
            <a:ext cx="82475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CREATE</a:t>
            </a:r>
            <a:r>
              <a:rPr lang="en-GB" sz="2000" dirty="0"/>
              <a:t> educational material, models and methods for broad applications through artistic and pedagogical practices with AI, emphasising ethical issues related to diversity, justice, fairness, inclusion, privacy, trust and accessibility.</a:t>
            </a:r>
            <a:endParaRPr lang="nb-NO" sz="2000" dirty="0"/>
          </a:p>
        </p:txBody>
      </p:sp>
    </p:spTree>
    <p:extLst>
      <p:ext uri="{BB962C8B-B14F-4D97-AF65-F5344CB8AC3E}">
        <p14:creationId xmlns:p14="http://schemas.microsoft.com/office/powerpoint/2010/main" val="2610456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83BA759B-22AA-F0AA-7C72-CCABFF608613}"/>
              </a:ext>
            </a:extLst>
          </p:cNvPr>
          <p:cNvSpPr/>
          <p:nvPr/>
        </p:nvSpPr>
        <p:spPr>
          <a:xfrm>
            <a:off x="1477155" y="1502701"/>
            <a:ext cx="2769577" cy="1028700"/>
          </a:xfrm>
          <a:prstGeom prst="rect">
            <a:avLst/>
          </a:prstGeom>
          <a:solidFill>
            <a:srgbClr val="A7A1F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000" dirty="0">
                <a:solidFill>
                  <a:srgbClr val="2A2D3B"/>
                </a:solidFill>
              </a:rPr>
              <a:t>Knowledge</a:t>
            </a: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54B85F1F-4230-ACC4-B71A-FC744133D4A2}"/>
              </a:ext>
            </a:extLst>
          </p:cNvPr>
          <p:cNvSpPr/>
          <p:nvPr/>
        </p:nvSpPr>
        <p:spPr>
          <a:xfrm>
            <a:off x="1477155" y="3028166"/>
            <a:ext cx="2769577" cy="1028700"/>
          </a:xfrm>
          <a:prstGeom prst="rect">
            <a:avLst/>
          </a:prstGeom>
          <a:solidFill>
            <a:srgbClr val="B4E39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000" dirty="0">
                <a:solidFill>
                  <a:srgbClr val="2A2D3B"/>
                </a:solidFill>
              </a:rPr>
              <a:t>Resources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6F593689-3F7E-6119-B7CD-CB56699E2BBD}"/>
              </a:ext>
            </a:extLst>
          </p:cNvPr>
          <p:cNvSpPr/>
          <p:nvPr/>
        </p:nvSpPr>
        <p:spPr>
          <a:xfrm>
            <a:off x="5688670" y="1480232"/>
            <a:ext cx="2769577" cy="1028700"/>
          </a:xfrm>
          <a:prstGeom prst="rect">
            <a:avLst/>
          </a:prstGeom>
          <a:solidFill>
            <a:srgbClr val="B4E39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noProof="0" dirty="0">
                <a:solidFill>
                  <a:srgbClr val="2A2D3B"/>
                </a:solidFill>
              </a:rPr>
              <a:t>Practices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E35CC43-52B8-F3B5-0E79-987EC716C825}"/>
              </a:ext>
            </a:extLst>
          </p:cNvPr>
          <p:cNvSpPr/>
          <p:nvPr/>
        </p:nvSpPr>
        <p:spPr>
          <a:xfrm>
            <a:off x="5688670" y="3028166"/>
            <a:ext cx="2769577" cy="1028700"/>
          </a:xfrm>
          <a:prstGeom prst="rect">
            <a:avLst/>
          </a:prstGeom>
          <a:solidFill>
            <a:srgbClr val="A7A1F4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000" dirty="0">
                <a:solidFill>
                  <a:srgbClr val="2A2D3B"/>
                </a:solidFill>
              </a:rPr>
              <a:t>Policy</a:t>
            </a:r>
          </a:p>
        </p:txBody>
      </p:sp>
    </p:spTree>
    <p:extLst>
      <p:ext uri="{BB962C8B-B14F-4D97-AF65-F5344CB8AC3E}">
        <p14:creationId xmlns:p14="http://schemas.microsoft.com/office/powerpoint/2010/main" val="368270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2CEED8E2-85B2-7785-6574-1F8BD6E7DBF1}"/>
              </a:ext>
            </a:extLst>
          </p:cNvPr>
          <p:cNvSpPr txBox="1"/>
          <p:nvPr/>
        </p:nvSpPr>
        <p:spPr>
          <a:xfrm>
            <a:off x="2295438" y="2048101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Transfer RQs into projects and activities</a:t>
            </a:r>
            <a:endParaRPr lang="nb-NO" sz="22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BE456137-D2C5-3326-4746-98555BD7F09E}"/>
              </a:ext>
            </a:extLst>
          </p:cNvPr>
          <p:cNvSpPr txBox="1"/>
          <p:nvPr/>
        </p:nvSpPr>
        <p:spPr>
          <a:xfrm>
            <a:off x="2295438" y="2714146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Mapping networks and ongoing initiatives</a:t>
            </a:r>
            <a:endParaRPr lang="nb-NO" sz="22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0B5A08E1-F5AE-6FF6-7D66-E001C5570E65}"/>
              </a:ext>
            </a:extLst>
          </p:cNvPr>
          <p:cNvSpPr txBox="1"/>
          <p:nvPr/>
        </p:nvSpPr>
        <p:spPr>
          <a:xfrm>
            <a:off x="2295438" y="3391479"/>
            <a:ext cx="68679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Mapping state-of-the-art and connect internationally</a:t>
            </a:r>
            <a:endParaRPr lang="nb-NO" sz="22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B98F427B-6E94-461C-F817-9FF5BD234BED}"/>
              </a:ext>
            </a:extLst>
          </p:cNvPr>
          <p:cNvSpPr txBox="1"/>
          <p:nvPr/>
        </p:nvSpPr>
        <p:spPr>
          <a:xfrm>
            <a:off x="2329304" y="1129660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b="1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Workshop December 4 in Oslo</a:t>
            </a:r>
            <a:endParaRPr lang="nb-NO" sz="2200" b="1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E33C84B5-FDD7-3CDD-7634-D50252078BA5}"/>
              </a:ext>
            </a:extLst>
          </p:cNvPr>
          <p:cNvSpPr txBox="1"/>
          <p:nvPr/>
        </p:nvSpPr>
        <p:spPr>
          <a:xfrm>
            <a:off x="2295438" y="4147834"/>
            <a:ext cx="68679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Physical workshop</a:t>
            </a:r>
            <a:endParaRPr lang="nb-NO" sz="2200" dirty="0">
              <a:solidFill>
                <a:srgbClr val="000000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1" name="Grafikk 10" descr="Gruppe idédugnad med heldekkende fyll">
            <a:extLst>
              <a:ext uri="{FF2B5EF4-FFF2-40B4-BE49-F238E27FC236}">
                <a16:creationId xmlns:a16="http://schemas.microsoft.com/office/drawing/2014/main" id="{7E95618E-1495-0C89-1062-EBC333A7C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1368820" y="917563"/>
            <a:ext cx="735792" cy="735792"/>
          </a:xfrm>
          <a:prstGeom prst="rect">
            <a:avLst/>
          </a:prstGeom>
        </p:spPr>
      </p:pic>
      <p:pic>
        <p:nvPicPr>
          <p:cNvPr id="16" name="Grafikk 15" descr="Høyrepekende pekefinger med heldekkende fyll">
            <a:extLst>
              <a:ext uri="{FF2B5EF4-FFF2-40B4-BE49-F238E27FC236}">
                <a16:creationId xmlns:a16="http://schemas.microsoft.com/office/drawing/2014/main" id="{96A7CB8F-3B9D-3D5C-1749-3CDBCB0E3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5609" y="2036812"/>
            <a:ext cx="493535" cy="493535"/>
          </a:xfrm>
          <a:prstGeom prst="rect">
            <a:avLst/>
          </a:prstGeom>
        </p:spPr>
      </p:pic>
      <p:pic>
        <p:nvPicPr>
          <p:cNvPr id="20" name="Grafikk 19" descr="Høyrepekende pekefinger med heldekkende fyll">
            <a:extLst>
              <a:ext uri="{FF2B5EF4-FFF2-40B4-BE49-F238E27FC236}">
                <a16:creationId xmlns:a16="http://schemas.microsoft.com/office/drawing/2014/main" id="{E6BCFDC3-3607-3AF7-837A-E69BF1CEA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5609" y="2714146"/>
            <a:ext cx="493535" cy="493535"/>
          </a:xfrm>
          <a:prstGeom prst="rect">
            <a:avLst/>
          </a:prstGeom>
        </p:spPr>
      </p:pic>
      <p:pic>
        <p:nvPicPr>
          <p:cNvPr id="21" name="Grafikk 20" descr="Høyrepekende pekefinger med heldekkende fyll">
            <a:extLst>
              <a:ext uri="{FF2B5EF4-FFF2-40B4-BE49-F238E27FC236}">
                <a16:creationId xmlns:a16="http://schemas.microsoft.com/office/drawing/2014/main" id="{2132FB86-4065-88A2-A9AF-3D77FF96EA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5609" y="3391479"/>
            <a:ext cx="493535" cy="493535"/>
          </a:xfrm>
          <a:prstGeom prst="rect">
            <a:avLst/>
          </a:prstGeom>
        </p:spPr>
      </p:pic>
      <p:pic>
        <p:nvPicPr>
          <p:cNvPr id="22" name="Grafikk 21" descr="Høyrepekende pekefinger med heldekkende fyll">
            <a:extLst>
              <a:ext uri="{FF2B5EF4-FFF2-40B4-BE49-F238E27FC236}">
                <a16:creationId xmlns:a16="http://schemas.microsoft.com/office/drawing/2014/main" id="{7C4855EA-E701-F574-6C60-96DA9F9E64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75609" y="4113968"/>
            <a:ext cx="493535" cy="49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5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4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2CEED8E2-85B2-7785-6574-1F8BD6E7DBF1}"/>
              </a:ext>
            </a:extLst>
          </p:cNvPr>
          <p:cNvSpPr txBox="1"/>
          <p:nvPr/>
        </p:nvSpPr>
        <p:spPr>
          <a:xfrm>
            <a:off x="2079336" y="1232435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Physical Workshop March 10</a:t>
            </a:r>
            <a:endParaRPr lang="nb-NO" sz="22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9" name="Grafikk 8" descr="Merke, avkryssing 1 kontur">
            <a:extLst>
              <a:ext uri="{FF2B5EF4-FFF2-40B4-BE49-F238E27FC236}">
                <a16:creationId xmlns:a16="http://schemas.microsoft.com/office/drawing/2014/main" id="{85DAAAC5-B313-2C69-42F0-913045CE9E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4456" y="1151005"/>
            <a:ext cx="512317" cy="512317"/>
          </a:xfrm>
          <a:prstGeom prst="rect">
            <a:avLst/>
          </a:prstGeom>
        </p:spPr>
      </p:pic>
      <p:sp>
        <p:nvSpPr>
          <p:cNvPr id="10" name="TekstSylinder 9">
            <a:extLst>
              <a:ext uri="{FF2B5EF4-FFF2-40B4-BE49-F238E27FC236}">
                <a16:creationId xmlns:a16="http://schemas.microsoft.com/office/drawing/2014/main" id="{BE456137-D2C5-3326-4746-98555BD7F09E}"/>
              </a:ext>
            </a:extLst>
          </p:cNvPr>
          <p:cNvSpPr txBox="1"/>
          <p:nvPr/>
        </p:nvSpPr>
        <p:spPr>
          <a:xfrm>
            <a:off x="2079336" y="1898480"/>
            <a:ext cx="61831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2-3 WP-meetings/webinars</a:t>
            </a:r>
            <a:endParaRPr lang="nb-NO" sz="22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2" name="Grafikk 11" descr="Merke, avkryssing 1 kontur">
            <a:extLst>
              <a:ext uri="{FF2B5EF4-FFF2-40B4-BE49-F238E27FC236}">
                <a16:creationId xmlns:a16="http://schemas.microsoft.com/office/drawing/2014/main" id="{2AB0E6E5-C00B-6F44-C3C2-CF5009D17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4456" y="1817050"/>
            <a:ext cx="512317" cy="512317"/>
          </a:xfrm>
          <a:prstGeom prst="rect">
            <a:avLst/>
          </a:prstGeom>
        </p:spPr>
      </p:pic>
      <p:sp>
        <p:nvSpPr>
          <p:cNvPr id="14" name="TekstSylinder 13">
            <a:extLst>
              <a:ext uri="{FF2B5EF4-FFF2-40B4-BE49-F238E27FC236}">
                <a16:creationId xmlns:a16="http://schemas.microsoft.com/office/drawing/2014/main" id="{0B5A08E1-F5AE-6FF6-7D66-E001C5570E65}"/>
              </a:ext>
            </a:extLst>
          </p:cNvPr>
          <p:cNvSpPr txBox="1"/>
          <p:nvPr/>
        </p:nvSpPr>
        <p:spPr>
          <a:xfrm>
            <a:off x="2079336" y="2575813"/>
            <a:ext cx="68679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Defining and starting projects</a:t>
            </a:r>
            <a:endParaRPr lang="nb-NO" sz="22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5" name="Grafikk 14" descr="Merke, avkryssing 1 kontur">
            <a:extLst>
              <a:ext uri="{FF2B5EF4-FFF2-40B4-BE49-F238E27FC236}">
                <a16:creationId xmlns:a16="http://schemas.microsoft.com/office/drawing/2014/main" id="{05D43027-27F8-980C-D1B1-6E6C6B8D4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4456" y="2494383"/>
            <a:ext cx="512317" cy="512317"/>
          </a:xfrm>
          <a:prstGeom prst="rect">
            <a:avLst/>
          </a:prstGeom>
        </p:spPr>
      </p:pic>
      <p:sp>
        <p:nvSpPr>
          <p:cNvPr id="18" name="TekstSylinder 17">
            <a:extLst>
              <a:ext uri="{FF2B5EF4-FFF2-40B4-BE49-F238E27FC236}">
                <a16:creationId xmlns:a16="http://schemas.microsoft.com/office/drawing/2014/main" id="{E33C84B5-FDD7-3CDD-7634-D50252078BA5}"/>
              </a:ext>
            </a:extLst>
          </p:cNvPr>
          <p:cNvSpPr txBox="1"/>
          <p:nvPr/>
        </p:nvSpPr>
        <p:spPr>
          <a:xfrm>
            <a:off x="2079336" y="3332168"/>
            <a:ext cx="68679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Working with networks</a:t>
            </a:r>
            <a:endParaRPr lang="nb-NO" sz="22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9" name="Grafikk 18" descr="Merke, avkryssing 1 kontur">
            <a:extLst>
              <a:ext uri="{FF2B5EF4-FFF2-40B4-BE49-F238E27FC236}">
                <a16:creationId xmlns:a16="http://schemas.microsoft.com/office/drawing/2014/main" id="{46ECCCA0-6831-F689-26AC-62BA66449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4456" y="3250738"/>
            <a:ext cx="512317" cy="512317"/>
          </a:xfrm>
          <a:prstGeom prst="rect">
            <a:avLst/>
          </a:prstGeom>
        </p:spPr>
      </p:pic>
      <p:sp>
        <p:nvSpPr>
          <p:cNvPr id="20" name="TekstSylinder 19">
            <a:extLst>
              <a:ext uri="{FF2B5EF4-FFF2-40B4-BE49-F238E27FC236}">
                <a16:creationId xmlns:a16="http://schemas.microsoft.com/office/drawing/2014/main" id="{44B03AB0-1295-5761-A484-32203876FA51}"/>
              </a:ext>
            </a:extLst>
          </p:cNvPr>
          <p:cNvSpPr txBox="1"/>
          <p:nvPr/>
        </p:nvSpPr>
        <p:spPr>
          <a:xfrm>
            <a:off x="2068047" y="4077234"/>
            <a:ext cx="68679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latin typeface="Aptos" panose="020B00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PhD &amp; Post-doc recruitments</a:t>
            </a:r>
            <a:endParaRPr lang="nb-NO" sz="2200" dirty="0">
              <a:latin typeface="Aptos" panose="020B00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21" name="Grafikk 20" descr="Merke, avkryssing 1 kontur">
            <a:extLst>
              <a:ext uri="{FF2B5EF4-FFF2-40B4-BE49-F238E27FC236}">
                <a16:creationId xmlns:a16="http://schemas.microsoft.com/office/drawing/2014/main" id="{25C00934-DB23-C622-244F-A20CF129D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3167" y="3995804"/>
            <a:ext cx="512317" cy="512317"/>
          </a:xfrm>
          <a:prstGeom prst="rect">
            <a:avLst/>
          </a:prstGeom>
        </p:spPr>
      </p:pic>
      <p:pic>
        <p:nvPicPr>
          <p:cNvPr id="23" name="Grafikk 22" descr="Månedskalender kontur">
            <a:extLst>
              <a:ext uri="{FF2B5EF4-FFF2-40B4-BE49-F238E27FC236}">
                <a16:creationId xmlns:a16="http://schemas.microsoft.com/office/drawing/2014/main" id="{1B0EEFB6-AB94-D342-5D68-9CA5CBFE04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41255" y="810356"/>
            <a:ext cx="2408550" cy="240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2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1">
            <a:extLst>
              <a:ext uri="{FF2B5EF4-FFF2-40B4-BE49-F238E27FC236}">
                <a16:creationId xmlns:a16="http://schemas.microsoft.com/office/drawing/2014/main" id="{2CEED8E2-85B2-7785-6574-1F8BD6E7DBF1}"/>
              </a:ext>
            </a:extLst>
          </p:cNvPr>
          <p:cNvSpPr txBox="1"/>
          <p:nvPr/>
        </p:nvSpPr>
        <p:spPr>
          <a:xfrm>
            <a:off x="1605455" y="1958112"/>
            <a:ext cx="76176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1800" dirty="0"/>
              <a:t>What are interesting directions for each RQ?</a:t>
            </a:r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Anything currently going on/in planning that contributes to this understanding of the RQ, and if yes, what and how? </a:t>
            </a:r>
            <a:endParaRPr lang="nb-NO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Can you </a:t>
            </a:r>
            <a:r>
              <a:rPr lang="en-US" sz="1800"/>
              <a:t>think of any </a:t>
            </a:r>
            <a:r>
              <a:rPr lang="en-US" sz="1800" dirty="0"/>
              <a:t>WP4-initiated projects that could/should be designed to (better) answer the RQs? </a:t>
            </a:r>
            <a:endParaRPr lang="nb-NO" sz="1800" dirty="0"/>
          </a:p>
        </p:txBody>
      </p:sp>
      <p:pic>
        <p:nvPicPr>
          <p:cNvPr id="3" name="Grafikk 2" descr="Spørsmålstegn for Merket med heldekkende fyll">
            <a:extLst>
              <a:ext uri="{FF2B5EF4-FFF2-40B4-BE49-F238E27FC236}">
                <a16:creationId xmlns:a16="http://schemas.microsoft.com/office/drawing/2014/main" id="{2625852E-321F-B421-E34B-B7B014E822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184" y="893442"/>
            <a:ext cx="512317" cy="512317"/>
          </a:xfrm>
          <a:prstGeom prst="rect">
            <a:avLst/>
          </a:prstGeo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FB135DCC-7529-8223-1897-7A1BAD766AB5}"/>
              </a:ext>
            </a:extLst>
          </p:cNvPr>
          <p:cNvSpPr txBox="1"/>
          <p:nvPr/>
        </p:nvSpPr>
        <p:spPr>
          <a:xfrm>
            <a:off x="1605454" y="949546"/>
            <a:ext cx="68087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dirty="0"/>
              <a:t>How do we move forward with the Research Questions? </a:t>
            </a:r>
            <a:endParaRPr lang="nb-NO" sz="2000" dirty="0"/>
          </a:p>
        </p:txBody>
      </p:sp>
      <p:pic>
        <p:nvPicPr>
          <p:cNvPr id="9" name="Grafikk 8" descr="Merke, avkryssing 1 kontur">
            <a:extLst>
              <a:ext uri="{FF2B5EF4-FFF2-40B4-BE49-F238E27FC236}">
                <a16:creationId xmlns:a16="http://schemas.microsoft.com/office/drawing/2014/main" id="{4A803748-7F5E-BEAE-75C5-5260E2B5E8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580" y="1863182"/>
            <a:ext cx="512317" cy="512317"/>
          </a:xfrm>
          <a:prstGeom prst="rect">
            <a:avLst/>
          </a:prstGeom>
        </p:spPr>
      </p:pic>
      <p:pic>
        <p:nvPicPr>
          <p:cNvPr id="11" name="Grafikk 10" descr="Merke, avkryssing 1 kontur">
            <a:extLst>
              <a:ext uri="{FF2B5EF4-FFF2-40B4-BE49-F238E27FC236}">
                <a16:creationId xmlns:a16="http://schemas.microsoft.com/office/drawing/2014/main" id="{2D05030A-6686-DE1D-9816-7E188D3F9D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6372" y="2566567"/>
            <a:ext cx="512317" cy="512317"/>
          </a:xfrm>
          <a:prstGeom prst="rect">
            <a:avLst/>
          </a:prstGeom>
        </p:spPr>
      </p:pic>
      <p:pic>
        <p:nvPicPr>
          <p:cNvPr id="12" name="Grafikk 11" descr="Merke, avkryssing 1 kontur">
            <a:extLst>
              <a:ext uri="{FF2B5EF4-FFF2-40B4-BE49-F238E27FC236}">
                <a16:creationId xmlns:a16="http://schemas.microsoft.com/office/drawing/2014/main" id="{530BD43C-89B9-31B1-0914-71FF59ECF0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6372" y="3331498"/>
            <a:ext cx="512317" cy="51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23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59"/>
          <p:cNvPicPr preferRelativeResize="0"/>
          <p:nvPr/>
        </p:nvPicPr>
        <p:blipFill rotWithShape="1">
          <a:blip r:embed="rId3">
            <a:alphaModFix/>
          </a:blip>
          <a:srcRect b="980"/>
          <a:stretch/>
        </p:blipFill>
        <p:spPr>
          <a:xfrm>
            <a:off x="1360912" y="1666350"/>
            <a:ext cx="7358800" cy="21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311021-8747-449d-8a82-55627a0a6ae1">
      <Terms xmlns="http://schemas.microsoft.com/office/infopath/2007/PartnerControls"/>
    </lcf76f155ced4ddcb4097134ff3c332f>
    <TaxCatchAll xmlns="4eef243e-d4f6-4457-adcf-29611c23772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74BB44EA47AA04DB0BCD16AA8875EB3" ma:contentTypeVersion="11" ma:contentTypeDescription="Opprett et nytt dokument." ma:contentTypeScope="" ma:versionID="6ae479b8cf20b3b84f1b06756e4ef188">
  <xsd:schema xmlns:xsd="http://www.w3.org/2001/XMLSchema" xmlns:xs="http://www.w3.org/2001/XMLSchema" xmlns:p="http://schemas.microsoft.com/office/2006/metadata/properties" xmlns:ns2="fd311021-8747-449d-8a82-55627a0a6ae1" xmlns:ns3="4eef243e-d4f6-4457-adcf-29611c237728" targetNamespace="http://schemas.microsoft.com/office/2006/metadata/properties" ma:root="true" ma:fieldsID="f9bdecad94990d8f82ee605e758ab48f" ns2:_="" ns3:_="">
    <xsd:import namespace="fd311021-8747-449d-8a82-55627a0a6ae1"/>
    <xsd:import namespace="4eef243e-d4f6-4457-adcf-29611c2377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311021-8747-449d-8a82-55627a0a6a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emerkelapper" ma:readOnly="false" ma:fieldId="{5cf76f15-5ced-4ddc-b409-7134ff3c332f}" ma:taxonomyMulti="true" ma:sspId="5da9934d-bfb1-4def-aef0-a37b7e29cb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f243e-d4f6-4457-adcf-29611c23772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0c4dcde-285c-4532-a802-110659ce4e8f}" ma:internalName="TaxCatchAll" ma:showField="CatchAllData" ma:web="4eef243e-d4f6-4457-adcf-29611c2377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70F3FC-5A80-4E3A-9965-0C87B08353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7C4101-CE90-47E7-B345-7513D44172C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cc64f6d2-eb45-4f69-a075-e958d4cdcb8a"/>
    <ds:schemaRef ds:uri="20b21c28-0e8e-4475-87f2-9940590ddd5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C7AB494C-67BB-4B9A-AA18-726AC2B1937B}"/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446</Words>
  <Application>Microsoft Macintosh PowerPoint</Application>
  <PresentationFormat>Egendefinert</PresentationFormat>
  <Paragraphs>81</Paragraphs>
  <Slides>14</Slides>
  <Notes>14</Notes>
  <HiddenSlides>0</HiddenSlides>
  <MMClips>0</MMClips>
  <ScaleCrop>false</ScaleCrop>
  <HeadingPairs>
    <vt:vector size="6" baseType="variant">
      <vt:variant>
        <vt:lpstr>Brukte skrifter</vt:lpstr>
      </vt:variant>
      <vt:variant>
        <vt:i4>7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14</vt:i4>
      </vt:variant>
    </vt:vector>
  </HeadingPairs>
  <TitlesOfParts>
    <vt:vector size="22" baseType="lpstr">
      <vt:lpstr>Roboto</vt:lpstr>
      <vt:lpstr>Times New Roman</vt:lpstr>
      <vt:lpstr>Helvetica Neue Light</vt:lpstr>
      <vt:lpstr>Arial</vt:lpstr>
      <vt:lpstr>Aptos</vt:lpstr>
      <vt:lpstr>Calibri</vt:lpstr>
      <vt:lpstr>Cambria Math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Eirik Sørbø</cp:lastModifiedBy>
  <cp:revision>34</cp:revision>
  <dcterms:modified xsi:type="dcterms:W3CDTF">2026-01-08T08:30:23Z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2025-12-08T20:09:00Z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8617bc69-1dfc-498b-95ca-b0b4c792f09f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50, 3, 0, 1</vt:lpwstr>
  </property>
  <property fmtid="{D5CDD505-2E9C-101B-9397-08002B2CF9AE}" pid="10" name="ContentTypeId">
    <vt:lpwstr>0x010100D74BB44EA47AA04DB0BCD16AA8875EB3</vt:lpwstr>
  </property>
  <property fmtid="{D5CDD505-2E9C-101B-9397-08002B2CF9AE}" pid="11" name="MediaServiceImageTags">
    <vt:lpwstr/>
  </property>
</Properties>
</file>